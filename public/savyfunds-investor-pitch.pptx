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6E49"/>
                </a:solidFill>
              </a:defRPr>
            </a:pPr>
            <a:r>
              <a:t>savyfunds™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748B"/>
                </a:solidFill>
              </a:defRPr>
            </a:pPr>
            <a:r>
              <a:t>AI-Powered Financial Education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748B"/>
                </a:solidFill>
              </a:defRPr>
            </a:pPr>
            <a:r>
              <a:t>Democratizing Financial Literacy for Young Adults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Investor Pitch Presentation • September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6E49"/>
                </a:solidFill>
              </a:defRPr>
            </a:pPr>
            <a:r>
              <a:t>The Financial Literacy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Statistics:</a:t>
            </a:r>
          </a:p>
          <a:p>
            <a:pPr lvl="1"/>
            <a:r>
              <a:t>66% of Americans can't pass a basic financial literacy test</a:t>
            </a:r>
          </a:p>
          <a:p>
            <a:pPr lvl="1"/>
            <a:r>
              <a:t>$230B lost annually due to financial illiteracy</a:t>
            </a:r>
          </a:p>
          <a:p>
            <a:pPr lvl="1"/>
            <a:r>
              <a:t>76% of young adults lack essential money management skills</a:t>
            </a:r>
          </a:p>
          <a:p>
            <a:pPr lvl="1"/>
            <a:r>
              <a:t>Young adults graduate without basic financial knowledge</a:t>
            </a:r>
          </a:p>
          <a:p>
            <a:pPr lvl="1"/>
            <a:r>
              <a:t>Traditional financial education is boring, outdated, and inaccessible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6E49"/>
                </a:solidFill>
              </a:defRPr>
            </a:pPr>
            <a:r>
              <a:t>Massive Revenue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2C6E49"/>
                </a:solidFill>
              </a:defRPr>
            </a:pPr>
            <a:r>
              <a:t>$105.4B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748B"/>
                </a:solidFill>
              </a:defRPr>
            </a:pPr>
            <a:r>
              <a:t>Personal Finance App Market Size (2024)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25.2% Annual Growth Rate (CAGR)</a:t>
            </a:r>
          </a:p>
          <a:p>
            <a:pPr>
              <a:defRPr sz="1800"/>
            </a:pPr>
            <a:r>
              <a:t>• 85M Target Users (Ages 18-35 in US)</a:t>
            </a:r>
          </a:p>
          <a:p>
            <a:pPr>
              <a:defRPr sz="1800"/>
            </a:pPr>
            <a:r>
              <a:t>• $50-200 Annual Revenue Per User (ARPU)</a:t>
            </a:r>
          </a:p>
          <a:p>
            <a:pPr>
              <a:defRPr sz="1800" b="1">
                <a:solidFill>
                  <a:srgbClr val="2C6E49"/>
                </a:solidFill>
              </a:defRPr>
            </a:pPr>
            <a:r>
              <a:t>Conservative Estimate: 1% market capture = $85M ARR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6E49"/>
                </a:solidFill>
              </a:defRPr>
            </a:pPr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The "Duolingo for Finance" - But Better</a:t>
            </a:r>
          </a:p>
          <a:p>
            <a:pPr>
              <a:defRPr sz="1800" b="1"/>
            </a:pPr>
            <a:r>
              <a:t>AI-Powered Personalization</a:t>
            </a:r>
          </a:p>
          <a:p>
            <a:pPr lvl="1">
              <a:defRPr sz="1600"/>
            </a:pPr>
            <a:r>
              <a:t>Adaptive learning paths based on user goals, income, and financial situation</a:t>
            </a:r>
          </a:p>
          <a:p>
            <a:pPr>
              <a:defRPr sz="1800" b="1"/>
            </a:pPr>
            <a:r>
              <a:t>Gamified Learning</a:t>
            </a:r>
          </a:p>
          <a:p>
            <a:pPr lvl="1">
              <a:defRPr sz="1600"/>
            </a:pPr>
            <a:r>
              <a:t>5-minute bite-sized lessons with rewards, achievements, and real financial challenges</a:t>
            </a:r>
          </a:p>
          <a:p>
            <a:pPr>
              <a:defRPr sz="1800" b="1"/>
            </a:pPr>
            <a:r>
              <a:t>Community &amp; Support</a:t>
            </a:r>
          </a:p>
          <a:p>
            <a:pPr lvl="1">
              <a:defRPr sz="1600"/>
            </a:pPr>
            <a:r>
              <a:t>Peer groups, expert Q&amp;A, and financial coaching from certified professionals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6E49"/>
                </a:solidFill>
              </a:defRPr>
            </a:pPr>
            <a:r>
              <a:t>Revenue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Freemium Subscriptions</a:t>
            </a:r>
          </a:p>
          <a:p>
            <a:pPr lvl="1"/>
            <a:r>
              <a:t>Premium ($9.99/month): Full AI coaching, advanced features</a:t>
            </a:r>
          </a:p>
          <a:p>
            <a:pPr lvl="1"/>
            <a:r>
              <a:t>Pro ($19.99/month): 1-on-1 expert coaching</a:t>
            </a:r>
          </a:p>
          <a:p>
            <a:pPr>
              <a:defRPr sz="2000" b="1"/>
            </a:pPr>
            <a:r>
              <a:t>B2B Partnerships</a:t>
            </a:r>
          </a:p>
          <a:p>
            <a:pPr lvl="1"/>
            <a:r>
              <a:t>Banks/Credit Unions: $50K-$200K annual licensing</a:t>
            </a:r>
          </a:p>
          <a:p>
            <a:pPr lvl="1"/>
            <a:r>
              <a:t>Corporate Wellness: $5-15 per employee/month</a:t>
            </a:r>
          </a:p>
          <a:p>
            <a:pPr>
              <a:defRPr sz="2000" b="1">
                <a:solidFill>
                  <a:srgbClr val="2C6E49"/>
                </a:solidFill>
              </a:defRPr>
            </a:pPr>
            <a:r>
              <a:t>5-Year Revenue Projection: $85M ARR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6E49"/>
                </a:solidFill>
              </a:defRPr>
            </a:pPr>
            <a:r>
              <a:t>Our Founder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202C"/>
                </a:solidFill>
              </a:defRPr>
            </a:pPr>
            <a:r>
              <a:t>Michael Momoh</a:t>
            </a:r>
          </a:p>
          <a:p>
            <a:pPr algn="ctr">
              <a:defRPr sz="1800">
                <a:solidFill>
                  <a:srgbClr val="64748B"/>
                </a:solidFill>
              </a:defRPr>
            </a:pPr>
            <a:r>
              <a:t>Founder &amp; CEO</a:t>
            </a:r>
          </a:p>
          <a:p>
            <a:br/>
            <a:pPr algn="ctr">
              <a:defRPr sz="1600">
                <a:solidFill>
                  <a:srgbClr val="1A202C"/>
                </a:solidFill>
              </a:defRPr>
            </a:pPr>
            <a:r>
              <a:t>Experienced fintech entrepreneur with deep expertise in AI-powered financial education platforms. Committed to democratizing financial literacy and empowering young adults to build lasting financial success.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6E49"/>
                </a:solidFill>
              </a:defRPr>
            </a:pPr>
            <a:r>
              <a:t>Status &amp;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Progress So Far</a:t>
            </a:r>
          </a:p>
          <a:p>
            <a:pPr lvl="1"/>
            <a:r>
              <a:t>✅ MVP developed and tested with 500 beta users</a:t>
            </a:r>
          </a:p>
          <a:p>
            <a:pPr lvl="1"/>
            <a:r>
              <a:t>✅ AI engine trained on 10,000+ financial scenarios</a:t>
            </a:r>
          </a:p>
          <a:p>
            <a:pPr>
              <a:defRPr sz="2000" b="1"/>
            </a:pPr>
            <a:r>
              <a:t>Current Focus</a:t>
            </a:r>
          </a:p>
          <a:p>
            <a:pPr lvl="1"/>
            <a:r>
              <a:t>🔄 Still refining and training the system to ensure optimal user experience and personalized AI recommendations</a:t>
            </a:r>
          </a:p>
          <a:p>
            <a:pPr lvl="1"/>
            <a:r>
              <a:t>🎯 Public launch with 10K initial users (Q1 2026)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6E49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What We're Doing:</a:t>
            </a:r>
          </a:p>
          <a:p>
            <a:pPr lvl="1">
              <a:defRPr sz="1600"/>
            </a:pPr>
            <a:r>
              <a:t>Revolutionizing financial education through AI-powered personalized learning, combining the engagement of Duolingo with professional financial coaching for 85 million young adults.</a:t>
            </a:r>
          </a:p>
          <a:p>
            <a:pPr>
              <a:defRPr sz="1600" b="1">
                <a:solidFill>
                  <a:srgbClr val="2C6E49"/>
                </a:solidFill>
              </a:defRPr>
            </a:pPr>
            <a:r>
              <a:t>Market Potential: $105B massive and growing market (25% annual growth)</a:t>
            </a:r>
          </a:p>
          <a:p>
            <a:pPr>
              <a:defRPr sz="1600" b="1">
                <a:solidFill>
                  <a:srgbClr val="2C6E49"/>
                </a:solidFill>
              </a:defRPr>
            </a:pPr>
            <a:r>
              <a:t>Competitive Edge: Only platform combining AI + Community + Real Application + Expert Coaching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6E49"/>
                </a:solidFill>
              </a:defRPr>
            </a:pPr>
            <a:r>
              <a:t>Our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A202C"/>
                </a:solidFill>
              </a:defRPr>
            </a:pPr>
            <a:r>
              <a:t>Series A Funding</a:t>
            </a:r>
          </a:p>
          <a:p>
            <a:pPr algn="ctr">
              <a:defRPr sz="7200" b="1">
                <a:solidFill>
                  <a:srgbClr val="2C6E49"/>
                </a:solidFill>
              </a:defRPr>
            </a:pPr>
            <a:r>
              <a:t>$5M</a:t>
            </a:r>
          </a:p>
          <a:p>
            <a:pPr algn="ctr">
              <a:defRPr sz="2400">
                <a:solidFill>
                  <a:srgbClr val="1A202C"/>
                </a:solidFill>
              </a:defRPr>
            </a:pPr>
            <a:r>
              <a:t>for 20% equity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Use of Funds:</a:t>
            </a:r>
          </a:p>
          <a:p>
            <a:pPr>
              <a:defRPr sz="1600"/>
            </a:pPr>
            <a:r>
              <a:t>• Product Development (40% - $2M): AI engine scaling, mobile app optimization</a:t>
            </a:r>
          </a:p>
          <a:p>
            <a:pPr>
              <a:defRPr sz="1600"/>
            </a:pPr>
            <a:r>
              <a:t>• Marketing &amp; User Acquisition (35% - $1.75M): Digital marketing, partnerships</a:t>
            </a:r>
          </a:p>
          <a:p>
            <a:pPr>
              <a:defRPr sz="1600"/>
            </a:pPr>
            <a:r>
              <a:t>• Team Expansion (20% - $1M): Key hires in AI, product, sales</a:t>
            </a:r>
          </a:p>
          <a:p>
            <a:pPr>
              <a:defRPr sz="1600"/>
            </a:pPr>
            <a:r>
              <a:t>• Operations &amp; Legal (5% - $250K): Infrastructure, compliance, 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6E49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748B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748B"/>
                </a:solidFill>
              </a:defRPr>
            </a:pPr>
            <a:r>
              <a:t>Michael Momoh, Founder &amp; CEO</a:t>
            </a:r>
          </a:p>
          <a:p>
            <a:pPr algn="ctr">
              <a:defRPr sz="1800">
                <a:solidFill>
                  <a:srgbClr val="94A3B8"/>
                </a:solidFill>
              </a:defRPr>
            </a:pPr>
            <a:r>
              <a:t>michael@savyfunds.com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t>www.savyfunds.com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